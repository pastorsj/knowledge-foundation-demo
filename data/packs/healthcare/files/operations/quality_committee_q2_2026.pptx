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30-day readmission rate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 2026</c:v>
                </c:pt>
              </c:strCache>
            </c:strRef>
          </c:tx>
          <c:spPr>
            <a:solidFill>
              <a:srgbClr val="9AA5B1"/>
            </a:solidFill>
          </c:spPr>
          <c:cat>
            <c:strRef>
              <c:f>Sheet1!$A$2:$A$5</c:f>
              <c:strCache>
                <c:ptCount val="4"/>
                <c:pt idx="0">
                  <c:v>Riverside Memorial</c:v>
                </c:pt>
                <c:pt idx="1">
                  <c:v>Lakeview Community</c:v>
                </c:pt>
                <c:pt idx="2">
                  <c:v>Eastgate Regional</c:v>
                </c:pt>
                <c:pt idx="3">
                  <c:v>System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17.6</c:v>
                </c:pt>
                <c:pt idx="1">
                  <c:v>12.8</c:v>
                </c:pt>
                <c:pt idx="2">
                  <c:v>26.1</c:v>
                </c:pt>
                <c:pt idx="3">
                  <c:v>18.8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1B7F8C"/>
            </a:solidFill>
          </c:spPr>
          <c:cat>
            <c:strRef>
              <c:f>Sheet1!$A$2:$A$5</c:f>
              <c:strCache>
                <c:ptCount val="4"/>
                <c:pt idx="0">
                  <c:v>Riverside Memorial</c:v>
                </c:pt>
                <c:pt idx="1">
                  <c:v>Lakeview Community</c:v>
                </c:pt>
                <c:pt idx="2">
                  <c:v>Eastgate Regional</c:v>
                </c:pt>
                <c:pt idx="3">
                  <c:v>System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9.5</c:v>
                </c:pt>
                <c:pt idx="1">
                  <c:v>20.0</c:v>
                </c:pt>
                <c:pt idx="2">
                  <c:v>25.9</c:v>
                </c:pt>
                <c:pt idx="3">
                  <c:v>17.4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agenda. Figures in this deck are computed from the Encounters and Claims tables and the quality scorecard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is Met when the Q2 value is at or better than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Per-hospital rates are noisy in a single quarter because each hospital has fewer than 150 index discharges.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HF cohort is index stays with a primary diagnosis in I50.x. COPD is J44.x.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 Transitions will report missed visits by patient every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Denial rate is denied claims divided by claims with an adjudication date in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is the HCAHPS sheet of quality_scorecard.xlsx.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Decisions were recorded in the minutes of 2026-08-20.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data in this deck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103120"/>
            <a:ext cx="10515600" cy="1280160"/>
          </a:xfrm>
        </p:spPr>
        <p:txBody>
          <a:bodyPr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Clinical Quality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474720"/>
            <a:ext cx="10515600" cy="914400"/>
          </a:xfrm>
        </p:spPr>
        <p:txBody>
          <a:bodyPr/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Q2 2026 review (April to June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CFE3EC"/>
                </a:solidFill>
                <a:latin typeface="Calibri"/>
              </a:rPr>
              <a:t>Riverside Health Network | Meeting of 2026-08-20 | Synthetic data for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Scorecard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100"/>
          </a:xfrm>
          <a:prstGeom prst="rect">
            <a:avLst/>
          </a:prstGeom>
          <a:solidFill>
            <a:srgbClr val="1B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4244"/>
                <a:gridCol w="1457853"/>
                <a:gridCol w="1457853"/>
                <a:gridCol w="2002613"/>
                <a:gridCol w="1541673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Q1 2026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30-day all-cause readmission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at most 15.0%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30-day heart failure readmission rate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27.9%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at most 20.0%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30-day COPD readmission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at most 18.0%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Heart failure 7-day follow-up completion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61.5%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70.6%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at least 85%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Claim denial rate (adjudicated claims)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at most 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HCAHPS overall hospital rating (9-10)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73.6%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73.7%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at least 72.0%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34256"/>
            <a:ext cx="1097280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Readmission rates count index inpatient discharges in the quarter, excluding deaths and discharges to hospice, followed by any inpatient admission within 30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Riverside Health Network | Clinical Quality Committee | Synthetic data for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30-day readmissions by hospital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100"/>
          </a:xfrm>
          <a:prstGeom prst="rect">
            <a:avLst/>
          </a:prstGeom>
          <a:solidFill>
            <a:srgbClr val="1B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667511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255"/>
                <a:gridCol w="853128"/>
                <a:gridCol w="853128"/>
                <a:gridCol w="936948"/>
                <a:gridCol w="1348998"/>
                <a:gridCol w="10666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Hospital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2026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Change (pts)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Q2 index discharges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Riverside Memorial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-8.1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at most 15.0%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Lakeview Community Hospital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12.8%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+7.2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at most 15.0%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Eastgate Regional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26.1%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25.9%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B33"/>
                          </a:solidFill>
                          <a:latin typeface="Calibri"/>
                        </a:rPr>
                        <a:t>at most 15.0%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3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33"/>
                          </a:solidFill>
                          <a:latin typeface="Calibri"/>
                        </a:rPr>
                        <a:t>18.8%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33"/>
                          </a:solidFill>
                          <a:latin typeface="Calibri"/>
                        </a:rPr>
                        <a:t>17.4%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33"/>
                          </a:solidFill>
                          <a:latin typeface="Calibri"/>
                        </a:rPr>
                        <a:t>-1.3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33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B33"/>
                          </a:solidFill>
                          <a:latin typeface="Calibri"/>
                        </a:rPr>
                        <a:t>at most 15.0%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406640" y="1280160"/>
          <a:ext cx="43891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System all-cause rate was 17.4% in Q2 (19 readmissions after 109 index discharges), against 18.8% in Q1.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Eastgate Regional Hospital has the highest rate at 25.9%; Riverside Memorial Hospital has the lowest at 9.5%.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Riverside Health Network | Clinical Quality Committee | Synthetic data for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Heart failure cohort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100"/>
          </a:xfrm>
          <a:prstGeom prst="rect">
            <a:avLst/>
          </a:prstGeom>
          <a:solidFill>
            <a:srgbClr val="1B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0666"/>
                <a:gridCol w="2370560"/>
                <a:gridCol w="2152164"/>
                <a:gridCol w="1565424"/>
                <a:gridCol w="1565424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Hospital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Q2 HF index discharges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Q2 readmissions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Q2 rate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Q1 rate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Riverside Memorial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Lakeview Community Hospital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21.4%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Eastgate Regional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27.9%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0972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Protocol RHN-CLN-HF-014 v4.2 (48-hour call, 7-day visit, missed-visit escalation) took effect on 2026-01-15.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System HF readmission rate: 20.0% in Q2 (5 of 25) versus 27.9% in Q1 (12 of 43). Target: 20.0% or lower.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COPD readmission rate in Q2: 27.3% (3 of 11); target 18.0% or lower.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Riverside Health Network | Clinical Quality Committee | Synthetic data for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Heart failure 7-day follow-up completion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100"/>
          </a:xfrm>
          <a:prstGeom prst="rect">
            <a:avLst/>
          </a:prstGeom>
          <a:solidFill>
            <a:srgbClr val="1B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1168"/>
                <a:gridCol w="2227544"/>
                <a:gridCol w="1738185"/>
                <a:gridCol w="1973670"/>
                <a:gridCol w="197367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Hospital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Q2 eligible discharges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Visit within 7 days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Q2 completion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Q1 completion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Riverside Memorial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58.3%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Lakeview Community Hospital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81.8%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61.5%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Eastgate Regional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64.3%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70.6%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61.5%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0972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System completion in Q2: 70.6% (12 of 17 eligible discharges) against the 85% target; Q1 was 61.5%.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Lowest completion in Q2: Eastgate Regional Hospital at 33.3%.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Eligible means a discharge to home or home health; a kept outpatient visit within 7 calendar days counts, a phone call does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Riverside Health Network | Clinical Quality Committee | Synthetic data for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Denials and prior authorization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100"/>
          </a:xfrm>
          <a:prstGeom prst="rect">
            <a:avLst/>
          </a:prstGeom>
          <a:solidFill>
            <a:srgbClr val="1B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2477"/>
                <a:gridCol w="3207918"/>
                <a:gridCol w="2146921"/>
                <a:gridCol w="214692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Payer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Claims adjudicated in Q2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Denied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Denial rate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Medicare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Northstar Advantage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9.0%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Medicaid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Evergreen Health Plan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Cascade Mutual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Self-pay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All payers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632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B33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>
                    <a:solidFill>
                      <a:srgbClr val="DDEA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18304"/>
            <a:ext cx="1097280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System denial rate on claims adjudicated in Q2: 6.8% (43 of 632).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Largest denial reason by claim count: Prior authorization missing (12 claims). Prior authorization missing: 12 claims.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Appeal windows differ by payer: see the payer contract summary RHN-CON-009. Prior authorization turnarounds are in policy RHN-REV-021.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Riverside Health Network | Clinical Quality Committee | Synthetic data for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Patient experience, HCAHPS-style top-box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100"/>
          </a:xfrm>
          <a:prstGeom prst="rect">
            <a:avLst/>
          </a:prstGeom>
          <a:solidFill>
            <a:srgbClr val="1B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1426"/>
                <a:gridCol w="1994028"/>
                <a:gridCol w="2329308"/>
                <a:gridCol w="1974913"/>
                <a:gridCol w="1694564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Hospital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Overall rating (9-10)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Discharge information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Care transition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Responses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Riverside Memorial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74.5%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89.8%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56.1%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Lakeview Community Hospital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87.1%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54.5%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332</a:t>
                      </a:r>
                    </a:p>
                  </a:txBody>
                  <a:tcPr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Eastgate Regional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71.5%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84.5%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47.6%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B33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182112"/>
            <a:ext cx="10972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Discharge information is lowest at Eastgate Regional Hospital (84.5%).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2B33"/>
                </a:solidFill>
                <a:latin typeface="Calibri"/>
              </a:rPr>
              <a:t>• Scores are the share of respondents choosing the most positive answer; Q2 2026 survey responses by hospital are in the scorecard workbook.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Riverside Health Network | Clinical Quality Committee | Synthetic data for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Decisions and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100"/>
          </a:xfrm>
          <a:prstGeom prst="rect">
            <a:avLst/>
          </a:prstGeom>
          <a:solidFill>
            <a:srgbClr val="1B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Approve the readmission targets: all-cause 15.0%, heart failure 20.0%, COPD 18.0%.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Eastgate Regional Hospital: present a readmission reduction plan at the Q3 meeting. Owner: hospital chief nursing officer. Due 2026-11-19.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Care Transitions: start a weekly missed 7-day follow-up report for heart failure discharges on 2026-09-01. Owner: Care Transitions manager.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Utilization Management: review orders that were denied for missing prior authorization and report the three services responsible. Due 2026-10-15.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Denials Management: appeal every denied claim that has not been appealed while the contract window is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Riverside Health Network | Clinical Quality Committee | Synthetic data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Appendix: definitions and 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463040" cy="38100"/>
          </a:xfrm>
          <a:prstGeom prst="rect">
            <a:avLst/>
          </a:prstGeom>
          <a:solidFill>
            <a:srgbClr val="1B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Index discharge: inpatient encounter, excluding discharge disposition expired or hospice.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30-day readmission: the same patient has another inpatient admission that starts within 30 days of the index discharge.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Heart failure cohort: primary diagnosis I50.x. COPD cohort: primary diagnosis J44.x.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Quarter assignment uses the discharge date. Q2 2026 is 2026-04-01 to 2026-06-30.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Sources: encounters, diagnoses and claims tables (Encounters and Claims source); quality_scorecard.xlsx.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Riverside Health Network | Clinical Quality Committee | Synthetic data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>
                <a:solidFill>
                  <a:srgbClr val="222B3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Quality Committee, Q2 2026 Review</dc:title>
  <dc:subject>Quarterly clinical quality review (synthetic)</dc:subject>
  <dc:creator>Riverside Health Network, Clinical Quality</dc:creator>
  <cp:keywords/>
  <dc:description>Synthetic document for demonstration only.</dc:description>
  <cp:lastModifiedBy>build.py</cp:lastModifiedBy>
  <cp:revision>1</cp:revision>
  <dcterms:created xsi:type="dcterms:W3CDTF">2026-09-30T12:00:00Z</dcterms:created>
  <dcterms:modified xsi:type="dcterms:W3CDTF">2026-09-30T12:00:00Z</dcterms:modified>
  <cp:category/>
</cp:coreProperties>
</file>