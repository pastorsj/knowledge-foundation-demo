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data for a software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means not paid off and not charged off at the reporting date. Balances are scheduled principal after the installments received.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Delinquency rate = active loans with at least one installment unpaid for 30 or more days, divided by active loans at the reporting date. Charged-off loans are excluded. Source: loan_payments and loans tables; the monthly series is in credit_risk_report.xlsx.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is defined as 90 or more days past due. Personal and auto loans are charged off at 120 days, mortgages evaluated at 180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286000"/>
            <a:ext cx="10698480" cy="1280160"/>
          </a:xfrm>
        </p:spPr>
        <p:txBody>
          <a:bodyPr/>
          <a:lstStyle/>
          <a:p>
            <a:pPr algn="l"/>
            <a:r>
              <a:rPr sz="4000" b="1">
                <a:solidFill>
                  <a:srgbClr val="12355B"/>
                </a:solidFill>
              </a:rPr>
              <a:t>Credit Risk Committee,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914400"/>
          </a:xfrm>
        </p:spPr>
        <p:txBody>
          <a:bodyPr/>
          <a:lstStyle/>
          <a:p>
            <a:pPr algn="l"/>
            <a:r>
              <a:rPr sz="1800">
                <a:solidFill>
                  <a:srgbClr val="5B6B7C"/>
                </a:solidFill>
              </a:rPr>
              <a:t>Harborview Community Bank | Data as of 30 September 2026 | Meeting of 14 October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</a:rPr>
              <a:t>Prepared by Credit Risk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Portfolio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1439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352"/>
                <a:gridCol w="1491786"/>
                <a:gridCol w="2400430"/>
                <a:gridCol w="240043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Active loans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Outstanding principal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Average interest rate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Personal loans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209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$1,939,834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13.73%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Auto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251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$5,946,821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8.22%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Mortgages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133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$39,864,597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5.47%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All consumer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593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$47,751,252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9.55%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593 consumer loans were active at 30 September 2026, with $47.8 million outstanding.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By count, 35% of active loans are personal loans, 42% are auto loans and 22% are mortgages.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68 new loans were originated in the quarter (36 personal, 32 auto, 0 mortgage).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Delinquency: loans 30 or more days past due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22375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039"/>
                <a:gridCol w="1105776"/>
                <a:gridCol w="1105776"/>
                <a:gridCol w="1105776"/>
                <a:gridCol w="170339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30 Sep 2025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30 Jun 2026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30 Sep 2026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Change since 30 Jun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Personal loans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3.0%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5.9%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3.3%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-2.6 pts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Auto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1.4%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3.1%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4.8%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+1.7 pts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Mortgages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0.8%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1.5%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3.0%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+1.5 pts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All consumer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1.7%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3.6%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3.9%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+0.2 pts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7223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Across all products 3.9% of active loans were 30 or more days past due at 30 September, against 3.6% at 30 June and 1.7% a year earlier.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The highest rate is on auto loans at 4.8%; the lowest is on mortgages at 3.0%.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23 loans are in the 30-day bucket or worse.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55B"/>
                </a:solidFill>
              </a:rPr>
              <a:t>30+ days past due, 30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</a:rPr>
              <a:t>Personal loans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011679"/>
            <a:ext cx="1985830" cy="1828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23990" y="1938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55B"/>
                </a:solidFill>
              </a:rPr>
              <a:t>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3042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</a:rPr>
              <a:t>Auto loans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578608"/>
            <a:ext cx="2834640" cy="1828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2505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55B"/>
                </a:solidFill>
              </a:rPr>
              <a:t>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7121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</a:rPr>
              <a:t>Mortgages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145535"/>
            <a:ext cx="1783194" cy="1828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354" y="30723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55B"/>
                </a:solidFill>
              </a:rPr>
              <a:t>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4381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</a:rPr>
              <a:t>All consumer loans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712463"/>
            <a:ext cx="2299659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7819" y="3639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55B"/>
                </a:solidFill>
              </a:rPr>
              <a:t>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Default: loans 90 or more days past due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1439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869"/>
                <a:gridCol w="1630177"/>
                <a:gridCol w="2833998"/>
                <a:gridCol w="156395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Active loans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Loans 90+ days past due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90+ rate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Personal loans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209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0.5%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Auto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251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2.8%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Mortgages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133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2.3%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All consumer loans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593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1.9%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11 active loans were 90 or more days past due at 30 September, 1.9% of the portfolio.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9 loans were charged off in the quarter with net charge-offs of $82,034 after recoveries.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Allowance and provisions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7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788"/>
                <a:gridCol w="1782297"/>
                <a:gridCol w="1359637"/>
                <a:gridCol w="1359637"/>
                <a:gridCol w="2094451"/>
                <a:gridCol w="228042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Outstanding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Allowance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Net charge-offs, Q3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Provision expense, Q3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Mass Market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$9,861,248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$288,107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2.92%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$43,800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$145,965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Mass Affluent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$19,132,251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$78,101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0.41%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$0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-$82,433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Young Adult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$1,766,730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$105,316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5.96%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$35,483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$48,884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Retiree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$1,912,175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$17,438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0.91%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$2,751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$6,804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Private Client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$15,078,849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$160,236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1.06%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$129,453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All segments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$47,751,253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$649,198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1.36%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$82,034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633"/>
                          </a:solidFill>
                        </a:rPr>
                        <a:t>$248,673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34255"/>
            <a:ext cx="110642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The allowance for loan losses is $649,198 at 30 September, 1.36% of outstanding balances.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Provision expense for the quarter was $248,673, against $184,548 in the second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Early warning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Average credit card utilization on open cards: 31.9% in September 2026, against 27.0% in September 2025.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Checking accounts with at least one overdraft in the month: 18.2% in September 2026, against 16.4% a year earlier.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12 cardholders are above 70 percent utilization, and 5 of them also hold a Harborview loan.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Customers who miss one installment are far more likely to miss the next: 50% of loans with an installment 30 or more days past due at 30 June were still unpaid or worse at 30 September.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Where delinquency is concentrated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1439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995"/>
                <a:gridCol w="1702910"/>
                <a:gridCol w="2960441"/>
                <a:gridCol w="21746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Active loans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Loans 30+ days past due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Delinquency rate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Harbor Coast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184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5.4%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Metro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200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9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4.5%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Highlands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92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2.2%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Valley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117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633"/>
                          </a:solidFill>
                        </a:rPr>
                        <a:t>1.7%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Harbor Coast has the highest delinquency rate at 5.4%; Valley has the lowest at 1.7%.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74% of the loans that are 30 or more days past due were underwritten in the Fair or Poor credit band, which hold 35% of the active 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777240"/>
          </a:xfrm>
        </p:spPr>
        <p:txBody>
          <a:bodyPr/>
          <a:lstStyle/>
          <a:p>
            <a:pPr algn="l"/>
            <a:r>
              <a:rPr sz="2800" b="1">
                <a:solidFill>
                  <a:srgbClr val="12355B"/>
                </a:solidFill>
              </a:rPr>
              <a:t>Decisions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45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Note that 30-day delinquency is 3.9%, up from 1.7% a year earlier, and keep the version 5.1 maximum debt-to-income limits, in force since 1 July 2026, under review.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Instruct Loan Servicing to contact every borrower that is 30 to 59 days past due within 5 business days, as Table 4 of the Consumer Credit Policy requires.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Ask Credit Risk to bring the first results of the monitoring of recent originations required by section 7 of the policy to the next meeting.</a:t>
            </a:r>
          </a:p>
          <a:p>
            <a:pPr marL="274320" indent="-274320">
              <a:spcAft>
                <a:spcPts val="700"/>
              </a:spcAft>
              <a:buChar char="•"/>
            </a:pPr>
            <a:r>
              <a:rPr sz="1600" b="0" i="0"/>
              <a:t>Approve the allowance for the quarter as presented.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</a:rPr>
              <a:t>Harborview Community Bank  |  Credit Risk Committee, Q3 2026  |  Synthetic data for a software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Committee, Q3 2026</dc:title>
  <dc:subject>Harborview Community Bank | Data as of 30 September 2026 | Meeting of 14 October 2026</dc:subject>
  <dc:creator>Harborview Community Bank (synthetic)</dc:creator>
  <cp:keywords/>
  <dc:description>Synthetic document generated for a software demonstration.</dc:description>
  <cp:lastModifiedBy>Harborview Community Bank (synthetic)</cp:lastModifiedBy>
  <cp:revision>1</cp:revision>
  <dcterms:created xsi:type="dcterms:W3CDTF">2026-09-30T12:00:00Z</dcterms:created>
  <dcterms:modified xsi:type="dcterms:W3CDTF">2026-09-30T12:00:00Z</dcterms:modified>
  <cp:category/>
</cp:coreProperties>
</file>