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sales are loyalty-member orders after discounts and before returns. The regional performance report carries the full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targets come from the category targets sheet in the merchandising plan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Promotion orders are those with a promo_id in the orders table; the discount depth is in the promo calendar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Restocking fees follow the return policy: 15 percent on opened electronics, none on defective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45775" cy="1371600"/>
          </a:xfrm>
        </p:spPr>
        <p:txBody>
          <a:bodyPr/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Q3 2026 Merchandising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246120"/>
            <a:ext cx="10545775" cy="1097280"/>
          </a:xfrm>
        </p:spPr>
        <p:txBody>
          <a:bodyPr/>
          <a:lstStyle/>
          <a:p>
            <a:pPr algn="l"/>
            <a:r>
              <a:rPr sz="2000" b="0" i="0">
                <a:solidFill>
                  <a:srgbClr val="D8DEE9"/>
                </a:solidFill>
                <a:latin typeface="Calibri"/>
              </a:rPr>
              <a:t>Category results against plan, promotions, returns and the Q4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80560"/>
            <a:ext cx="12191695" cy="640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Calibri"/>
              </a:rPr>
              <a:t>Merchandising and Planning | Prepared October 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B4C5"/>
                </a:solidFill>
                <a:latin typeface="Calibri"/>
              </a:rPr>
              <a:t>Synthetic data for a software demonstration. Internal use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Q3 2026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02153" cy="14173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14173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232783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A49"/>
                </a:solidFill>
                <a:latin typeface="Calibri"/>
              </a:rPr>
              <a:t>$207,067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23278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F2430"/>
                </a:solidFill>
                <a:latin typeface="Calibri"/>
              </a:rPr>
              <a:t>Net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23278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B6577"/>
                </a:solidFill>
                <a:latin typeface="Calibri"/>
              </a:rPr>
              <a:t>+1.2% vs Q3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9393" y="1417320"/>
            <a:ext cx="2602153" cy="14173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9393" y="1417320"/>
            <a:ext cx="73152" cy="14173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2273" y="1490472"/>
            <a:ext cx="232783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A49"/>
                </a:solidFill>
                <a:latin typeface="Calibri"/>
              </a:rPr>
              <a:t>1,079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273" y="2075688"/>
            <a:ext cx="23278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F2430"/>
                </a:solidFill>
                <a:latin typeface="Calibri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2273" y="2386584"/>
            <a:ext cx="23278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B6577"/>
                </a:solidFill>
                <a:latin typeface="Calibri"/>
              </a:rPr>
              <a:t>+5.5% vs Q3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1417320"/>
            <a:ext cx="2602153" cy="14173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1417320"/>
            <a:ext cx="73152" cy="14173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027" y="1490472"/>
            <a:ext cx="232783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A49"/>
                </a:solidFill>
                <a:latin typeface="Calibri"/>
              </a:rPr>
              <a:t>$192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2075688"/>
            <a:ext cx="23278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F2430"/>
                </a:solidFill>
                <a:latin typeface="Calibri"/>
              </a:rPr>
              <a:t>Average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7" y="2386584"/>
            <a:ext cx="23278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B6577"/>
                </a:solidFill>
                <a:latin typeface="Calibri"/>
              </a:rPr>
              <a:t>-4.1% vs Q3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0901" y="1417320"/>
            <a:ext cx="2602153" cy="14173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0901" y="1417320"/>
            <a:ext cx="73152" cy="14173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3781" y="1490472"/>
            <a:ext cx="232783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A49"/>
                </a:solidFill>
                <a:latin typeface="Calibri"/>
              </a:rPr>
              <a:t>9.7%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781" y="2075688"/>
            <a:ext cx="232783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F2430"/>
                </a:solidFill>
                <a:latin typeface="Calibri"/>
              </a:rPr>
              <a:t>Return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3781" y="2386584"/>
            <a:ext cx="23278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B6577"/>
                </a:solidFill>
                <a:latin typeface="Calibri"/>
              </a:rPr>
              <a:t>returned value / net sales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08960"/>
            <a:ext cx="11094415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1F2430"/>
                </a:solidFill>
                <a:latin typeface="Calibri"/>
              </a:rPr>
              <a:t>•  Northeast led regional growth at +14.4%; Southeast was the slowest at -12.4%.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F2430"/>
                </a:solidFill>
                <a:latin typeface="Calibri"/>
              </a:rPr>
              <a:t>•  3 of 7 categories missed their Q3 net sales plan and 4 beat it.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F2430"/>
                </a:solidFill>
                <a:latin typeface="Calibri"/>
              </a:rPr>
              <a:t>•  Returned value was 9.7% of net sales, with Electronics the highest-returning category (16.7%).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Category performance against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Electronics (-8.2%), Kitchen &amp; Dining (-6.5%) and Apparel (-3.7%) finished below plan; Outdoor &amp; Garden, Home Decor, Furniture and Bedding &amp; Bath beat it.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Electronics finished -8.2% against plan; the plan assumed a stronger Summer Tech Savings event.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417320"/>
          <a:ext cx="5882333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053"/>
                <a:gridCol w="1058820"/>
                <a:gridCol w="1058820"/>
                <a:gridCol w="941173"/>
                <a:gridCol w="1176467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Q3 net sales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Q3 plan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Return rate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$47,733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$52,000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-8.2%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$42,181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$40,500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+4.2%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Home Decor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$25,227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$23,700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+6.4%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Kitchen &amp; Dining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$33,670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$36,000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-6.5%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Bedding &amp; Bath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$19,844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$19,400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+2.3%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Apparel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$11,363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$11,800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Outdoor &amp; Garden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$27,048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$25,200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+7.3%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1F243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F243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F2430"/>
                          </a:solidFill>
                          <a:latin typeface="Calibri"/>
                        </a:rPr>
                        <a:t>$207,067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F2430"/>
                          </a:solidFill>
                          <a:latin typeface="Calibri"/>
                        </a:rPr>
                        <a:t>$208,600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F2430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F2430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Regional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Northeast grew +14.4%; West grew +3.5%.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E-commerce was 27.7% of net sales; E-commerce grew +3.4%.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Flagship stores S01, S07, S13 and S21 produced 37.7% of physical store net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490472"/>
            <a:ext cx="58823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2A49"/>
                </a:solidFill>
                <a:latin typeface="Calibri"/>
              </a:rPr>
              <a:t>Net sales by region, $ thousands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74519"/>
            <a:ext cx="1920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F2430"/>
                </a:solidFill>
                <a:latin typeface="Calibri"/>
              </a:rPr>
              <a:t>Northeast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009485"/>
            <a:ext cx="1761480" cy="479877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33880" y="1874519"/>
            <a:ext cx="1188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B2A49"/>
                </a:solidFill>
                <a:latin typeface="Calibri"/>
              </a:rPr>
              <a:t>37.7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24327"/>
            <a:ext cx="1920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F2430"/>
                </a:solidFill>
                <a:latin typeface="Calibri"/>
              </a:rPr>
              <a:t>Southeast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2759293"/>
            <a:ext cx="1443759" cy="479877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6159" y="2624327"/>
            <a:ext cx="1188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B2A49"/>
                </a:solidFill>
                <a:latin typeface="Calibri"/>
              </a:rPr>
              <a:t>30.9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374135"/>
            <a:ext cx="1920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F2430"/>
                </a:solidFill>
                <a:latin typeface="Calibri"/>
              </a:rPr>
              <a:t>Midwest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3509101"/>
            <a:ext cx="1668032" cy="479877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0432" y="3374135"/>
            <a:ext cx="1188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B2A49"/>
                </a:solidFill>
                <a:latin typeface="Calibri"/>
              </a:rPr>
              <a:t>35.7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123944"/>
            <a:ext cx="1920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F2430"/>
                </a:solidFill>
                <a:latin typeface="Calibri"/>
              </a:rPr>
              <a:t>West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4258909"/>
            <a:ext cx="2121251" cy="479877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651" y="4123944"/>
            <a:ext cx="1188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B2A49"/>
                </a:solidFill>
                <a:latin typeface="Calibri"/>
              </a:rPr>
              <a:t>45.4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873752"/>
            <a:ext cx="19202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1F2430"/>
                </a:solidFill>
                <a:latin typeface="Calibri"/>
              </a:rPr>
              <a:t>E-commerce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5008717"/>
            <a:ext cx="2681935" cy="479877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4335" y="4873752"/>
            <a:ext cx="11887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1B2A49"/>
                </a:solidFill>
                <a:latin typeface="Calibri"/>
              </a:rPr>
              <a:t>57.4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Promotions in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Promotion-tagged orders were 16.8% of Q3 orders and 16.7% of net sales.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Back to School ran through August and the Labor Day Sale (August 28 to September 7) overlapped its last days.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417320"/>
          <a:ext cx="5882332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43"/>
                <a:gridCol w="999996"/>
                <a:gridCol w="1176467"/>
                <a:gridCol w="882350"/>
                <a:gridCol w="705880"/>
                <a:gridCol w="99999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Promotion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Dates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Discount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Net sales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Summer Tech Savings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Jul 6 to Jul 19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$10,208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Back to School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Aug 1 to Aug 31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Bedding &amp; Bath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$8,066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Labor Day Sale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Aug 28 to Sep 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All categories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i="0">
                          <a:solidFill>
                            <a:srgbClr val="1F2430"/>
                          </a:solidFill>
                          <a:latin typeface="Calibri"/>
                        </a:rPr>
                        <a:t>$16,325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Returns watch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Electronics return rate was 16.7% of Electronics net sales; the chain rate was 9.7%.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Chicago Loop (S13) processed 11 Electronics returns, the most of any physical store.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S06 Newark Gateway, S16 Indianapolis Fashion Mall and S22 Los Angeles Westside stay on enhanced return monitoring through December 31.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417320"/>
          <a:ext cx="5882333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580"/>
                <a:gridCol w="1529407"/>
                <a:gridCol w="823526"/>
                <a:gridCol w="10588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Electronics product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Q3 returns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Returned value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Lumen Living Over-Ear Headphones Travel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Auralis Audio Works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$1,740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Robot Vacuum Plus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Devices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$1,860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Robot Vacuum Core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Devices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$800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Video Doorbell Battery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Devices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$570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Smart Speaker Max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Devices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$390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Suppliers and margin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Voltara Devices supplied the most Q3 net sales at $37,783, 18.2% of the quarter.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Defect allowances and promotion funding are set in the fiscal 2026 supplier terms.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417320"/>
          <a:ext cx="5882333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347"/>
                <a:gridCol w="1999993"/>
                <a:gridCol w="1176467"/>
                <a:gridCol w="82352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Supplier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Categories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Q3 net sales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Voltara Devices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$37,783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18.2%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Copperkettle Kitchenware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Kitchen &amp; Dining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$28,276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13.7%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Wildfern Outdoor Supply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Outdoor &amp; Garden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$27,048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Hearthwood Furniture Co.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$27,044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Softfold Textiles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Bedding &amp; Bath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$19,844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Q4 2026 plan and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Planned Q4 promotions carry $182,000 of budget: Fall Home Refresh, Black Friday Weekend, Cyber Week Online and Holiday Gift Guide.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Risk: the Electronics return pattern at the Chicago Loop flagship could repeat in the holiday season.</a:t>
            </a:r>
          </a:p>
          <a:p>
            <a:pPr>
              <a:spcAft>
                <a:spcPts val="900"/>
              </a:spcAft>
            </a:pPr>
            <a:r>
              <a:rPr sz="1550" b="0" i="0">
                <a:solidFill>
                  <a:srgbClr val="1F2430"/>
                </a:solidFill>
                <a:latin typeface="Calibri"/>
              </a:rPr>
              <a:t>•  Risk: Southeast needs a recovery plan before Black Friday.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417320"/>
          <a:ext cx="5882332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407"/>
                <a:gridCol w="1411760"/>
                <a:gridCol w="999996"/>
                <a:gridCol w="941173"/>
                <a:gridCol w="99999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Q4 net sales target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Target margin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Target units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vs Q3 actual</a:t>
                      </a:r>
                    </a:p>
                  </a:txBody>
                  <a:tcPr marL="73152" marR="73152" anchor="ctr">
                    <a:solidFill>
                      <a:srgbClr val="1B2A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Electronics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$69,200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28.4%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+45%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$58,300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47.6%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+38%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Home Decor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$35,500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51.1%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555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+41%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Kitchen &amp; Dining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$46,500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44.6%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395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+38%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Bedding &amp; Bath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$28,800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49.8%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405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+45%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Apparel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$15,700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54.2%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+38%</a:t>
                      </a:r>
                    </a:p>
                  </a:txBody>
                  <a:tcPr marL="73152" marR="73152" anchor="ctr"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Outdoor &amp; Garden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$38,100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43.6%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i="0">
                          <a:solidFill>
                            <a:srgbClr val="1F2430"/>
                          </a:solidFill>
                          <a:latin typeface="Calibri"/>
                        </a:rPr>
                        <a:t>+41%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/>
          <a:p>
            <a:pPr algn="l"/>
            <a:r>
              <a:rPr sz="3000" b="1" i="0">
                <a:solidFill>
                  <a:srgbClr val="1B2A49"/>
                </a:solidFill>
                <a:latin typeface="Calibri"/>
              </a:rPr>
              <a:t>Decisions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B6577"/>
                </a:solidFill>
                <a:latin typeface="Calibri"/>
              </a:rPr>
              <a:t>Lumen Retail Group  |  Merchandising and Planning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577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 i="0">
                <a:solidFill>
                  <a:srgbClr val="1F2430"/>
                </a:solidFill>
                <a:latin typeface="Calibri"/>
              </a:rPr>
              <a:t>•  Approve the revised Electronics range review at the Chicago Loop flagship.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F2430"/>
                </a:solidFill>
                <a:latin typeface="Calibri"/>
              </a:rPr>
              <a:t>•  Confirm the Q4 category targets after the Fall Home Refresh results.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1F2430"/>
                </a:solidFill>
                <a:latin typeface="Calibri"/>
              </a:rPr>
              <a:t>•  Agree a shared return-reduction plan with Voltara Devices and Auralis Audio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Merchandising Review</dc:title>
  <dc:subject>Quarterly merchandising review</dc:subject>
  <dc:creator>Lumen Retail Group - Merchandising and Planning</dc:creator>
  <cp:keywords>synthetic, retail, merchandising</cp:keywords>
  <dc:description>Synthetic document for a software demonstration.</dc:description>
  <cp:lastModifiedBy>Lumen Retail Group - Merchandising and Planning</cp:lastModifiedBy>
  <cp:revision>1</cp:revision>
  <dcterms:created xsi:type="dcterms:W3CDTF">2026-09-30T12:00:00Z</dcterms:created>
  <dcterms:modified xsi:type="dcterms:W3CDTF">2026-09-30T12:00:00Z</dcterms:modified>
  <cp:category/>
</cp:coreProperties>
</file>